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9808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4672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4672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95360" y="27432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95360" y="1078992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0" y="1883664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95360" y="2688336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95360" y="3493008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95360" y="4297680"/>
            <a:ext cx="36576" cy="36576"/>
          </a:xfrm>
          <a:prstGeom prst="ellipse">
            <a:avLst/>
          </a:prstGeom>
          <a:solidFill>
            <a:srgbClr val="00C8E8">
              <a:alpha val="35000"/>
            </a:srgbClr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20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11480" y="34747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82296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RAIL</a:t>
            </a:r>
            <a:endParaRPr lang="en-US" sz="5400" dirty="0"/>
          </a:p>
        </p:txBody>
      </p:sp>
      <p:sp>
        <p:nvSpPr>
          <p:cNvPr id="49" name="Text 47"/>
          <p:cNvSpPr/>
          <p:nvPr/>
        </p:nvSpPr>
        <p:spPr>
          <a:xfrm>
            <a:off x="411480" y="210312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Super Add-On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411480" y="3063240"/>
            <a:ext cx="32004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3200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NINJAS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411480" y="367588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Zomathon  |  Problem Statement 2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212080" y="1005840"/>
            <a:ext cx="1783080" cy="621792"/>
          </a:xfrm>
          <a:prstGeom prst="rect">
            <a:avLst/>
          </a:prstGeom>
          <a:solidFill>
            <a:srgbClr val="1C1C36"/>
          </a:solidFill>
          <a:ln w="15240">
            <a:solidFill>
              <a:srgbClr val="00C8E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212080" y="1005840"/>
            <a:ext cx="45720" cy="6217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03520" y="100584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623560" y="100584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132320" y="1005840"/>
            <a:ext cx="1783080" cy="621792"/>
          </a:xfrm>
          <a:prstGeom prst="rect">
            <a:avLst/>
          </a:prstGeom>
          <a:solidFill>
            <a:srgbClr val="1C1C36"/>
          </a:solidFill>
          <a:ln w="15240">
            <a:solidFill>
              <a:srgbClr val="00C89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132320" y="1005840"/>
            <a:ext cx="45720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0" y="1005840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543800" y="100584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MBA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212080" y="1810512"/>
            <a:ext cx="1783080" cy="621792"/>
          </a:xfrm>
          <a:prstGeom prst="rect">
            <a:avLst/>
          </a:prstGeom>
          <a:solidFill>
            <a:srgbClr val="1C1C36"/>
          </a:solidFill>
          <a:ln w="15240">
            <a:solidFill>
              <a:srgbClr val="FFD06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12080" y="1810512"/>
            <a:ext cx="45720" cy="6217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03520" y="1810512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5623560" y="18105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132320" y="1810512"/>
            <a:ext cx="1783080" cy="621792"/>
          </a:xfrm>
          <a:prstGeom prst="rect">
            <a:avLst/>
          </a:prstGeom>
          <a:solidFill>
            <a:srgbClr val="1C1C36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0" y="1810512"/>
            <a:ext cx="4572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23760" y="1810512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543800" y="181051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L2R Model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212080" y="2615184"/>
            <a:ext cx="1783080" cy="621792"/>
          </a:xfrm>
          <a:prstGeom prst="rect">
            <a:avLst/>
          </a:prstGeom>
          <a:solidFill>
            <a:srgbClr val="1C1C36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212080" y="2615184"/>
            <a:ext cx="45720" cy="6217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0" y="2615184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5623560" y="261518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API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32320" y="2615184"/>
            <a:ext cx="1783080" cy="621792"/>
          </a:xfrm>
          <a:prstGeom prst="rect">
            <a:avLst/>
          </a:prstGeom>
          <a:solidFill>
            <a:srgbClr val="1C1C36"/>
          </a:solidFill>
          <a:ln w="15240">
            <a:solidFill>
              <a:srgbClr val="E2374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132320" y="2615184"/>
            <a:ext cx="45720" cy="6217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0" y="2615184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7543800" y="261518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212080" y="4206240"/>
            <a:ext cx="3749040" cy="640080"/>
          </a:xfrm>
          <a:prstGeom prst="rect">
            <a:avLst/>
          </a:prstGeom>
          <a:solidFill>
            <a:srgbClr val="1C1C36"/>
          </a:solidFill>
          <a:ln w="15240">
            <a:solidFill>
              <a:srgbClr val="E237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57800" y="42062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Cart Completion at Scale — 200ms · Millions of Daily Orders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CSAO Rail? What are we solving?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078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customers add items to their cart, they often miss discovering complementary items that would enhance their meal experience. A significant opportunity exists to intelligently recommend add-ons that customers are likely to accept — increasing Average Order Value while improving the overall experience.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Objective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276148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scalable recommendation system that accurately predicts which add-on items a customer is most likely to add to their cart, given their: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Current cart state &amp; composition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Contextual information (time, city, cuisine)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Historical behavioural patterns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2011680" cy="1828800"/>
          </a:xfrm>
          <a:prstGeom prst="rect">
            <a:avLst/>
          </a:prstGeom>
          <a:solidFill>
            <a:srgbClr val="14142A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78992"/>
            <a:ext cx="201168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Context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18888" y="170078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meal patterns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without beverage),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 from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behaviour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85432" y="1078992"/>
            <a:ext cx="2011680" cy="1828800"/>
          </a:xfrm>
          <a:prstGeom prst="rect">
            <a:avLst/>
          </a:prstGeom>
          <a:solidFill>
            <a:srgbClr val="14142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85432" y="1078992"/>
            <a:ext cx="201168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95160" y="170078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ignore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of day, cuisine type,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user segment,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108960"/>
            <a:ext cx="2011680" cy="182880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108960"/>
            <a:ext cx="201168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32186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Logic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18888" y="373075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Recs must update 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cart mutation: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Biryani→Salan→Dessert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→Drinks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85432" y="3108960"/>
            <a:ext cx="2011680" cy="182880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85432" y="3108960"/>
            <a:ext cx="201168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321868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995160" y="3730752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serve &lt; 200-300ms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millions of daily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during peak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lunch/dinner rushes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&amp; Key Metrics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winning solution look like?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278892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278892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70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Metrics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481328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— Overall model discrimination ability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— Accuracy of top-K recommendations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 — Coverage of relevant items in top-K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— Ranking quality (order-sensitive)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— Balance of precision &amp; recall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Overall classification accuracy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8892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78992"/>
            <a:ext cx="278892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170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Metrics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10128" y="1481328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Acceptance Rate — % of recommendations added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Lift — Incremental increase in cart value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 (CTR) — % engaging with rail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C2O Ratio — Cart-to-order completion rate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Rail Order Share — % of orders with rail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items ordered — Per-order item count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078992"/>
            <a:ext cx="278892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78992"/>
            <a:ext cx="278892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17043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Metrics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36208" y="1481328"/>
            <a:ext cx="2606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— p50/p95/p99 response time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— % of scenarios with predictions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Freshness — How recent the feature data is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Rate — % of requests without history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Rate — Redis cache efficiency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— Requests per second handled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01_data_generation_FIXED.py  —  Synthetic dataset with real-world food delivery dynamics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160020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160020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2084832"/>
            <a:ext cx="1463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Cities: Mumbai, Bangalore,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Pune, Delhi,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Kolkata, Chennai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Budget (49.6%)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(30.4%)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(20.0%)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Dietary: Veg/Non-Veg/Both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accept rate: 25–55%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age: 30–1825 days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1078992"/>
            <a:ext cx="160020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078992"/>
            <a:ext cx="16002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1168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2084832"/>
            <a:ext cx="1463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Cuisines: 10 types incl.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Indian, Biryani,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Chinese, Continental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bands: Budget 30%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40%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20% / Luxury 10%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Ratings: 2.5 – 4.9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vs independent: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 chain / 65% indie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delivery: 25–50 mins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1078992"/>
            <a:ext cx="160020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078992"/>
            <a:ext cx="160020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7,914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74904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Items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22192" y="2084832"/>
            <a:ext cx="1463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main, side,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dessert, beverage,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ranges: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₹150-400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 ₹30-150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Dessert ₹50-250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₹40-150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Veg/Non-veg, popularity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flag, ratings, order count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0" y="1078992"/>
            <a:ext cx="160020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0" y="1078992"/>
            <a:ext cx="160020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48640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9552" y="2084832"/>
            <a:ext cx="1463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City-matched user-restaurant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time distribution: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22.7%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25.2% / Snack 11.2%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Dinner 26.7%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 14.2%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Mobile 75.3%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20.3% / Tablet 4.4%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23760" y="1078992"/>
            <a:ext cx="1600200" cy="3794760"/>
          </a:xfrm>
          <a:prstGeom prst="rect">
            <a:avLst/>
          </a:prstGeom>
          <a:solidFill>
            <a:srgbClr val="14142A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23760" y="1078992"/>
            <a:ext cx="160020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111556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92,680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23760" y="17373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Events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96912" y="2084832"/>
            <a:ext cx="1463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events + CSAO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generated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patterns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 generation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flag, position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rail, rank score,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state at show 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grouping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transaction analysis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— Market Basket Priors &amp; Distributions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domain knowledge seeds realistic co-purchase patterns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5303520" cy="2148840"/>
          </a:xfrm>
          <a:prstGeom prst="rect">
            <a:avLst/>
          </a:prstGeom>
          <a:solidFill>
            <a:srgbClr val="1C1C36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530352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Market Basket Association Priors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84048" y="1572768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→ raita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03120" y="1572768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→ beverage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03120" y="18105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22192" y="1572768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572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→ dessert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22192" y="181051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4048" y="2139696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tandoor → bread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84048" y="23774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103120" y="2139696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tandoor → beverage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03120" y="23774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22192" y="2139696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21396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tandoor → side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22192" y="237744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4048" y="2706624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side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29443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103120" y="2706624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beverage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103120" y="29443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822192" y="2706624"/>
            <a:ext cx="1572768" cy="475488"/>
          </a:xfrm>
          <a:prstGeom prst="rect">
            <a:avLst/>
          </a:prstGeom>
          <a:solidFill>
            <a:srgbClr val="0D0D18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22192" y="27066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→ condiment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822192" y="294436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806440" y="1078992"/>
            <a:ext cx="3063240" cy="214884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806440" y="1078992"/>
            <a:ext cx="306324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1170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943600" y="1572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Times: 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49440" y="1572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22.7% | Lunch 25.2% | Snack 11.2% | Dinner 26.7% | Late Night 14.2%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0" y="1874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Types: 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4944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75.3% | Web 20.3% | Tablet 4.4%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0" y="21762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Segments: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49440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49.6% | Occasional 30.4% | Premium 20.0%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943600" y="247802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Dietary Prefs: 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49440" y="2478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 30.8% | Non-Veg 39.8% | Both 29.4%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43600" y="27797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Bands: 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4944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30% | Moderate 40% | Premium 20% | Luxury 10%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1C1C36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74320" y="3383280"/>
            <a:ext cx="859536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34747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Strategy — Distinct Data Pipelines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384048" y="3886200"/>
            <a:ext cx="2606040" cy="804672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User: 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457200" y="4169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popularity + cuisine defaults + time-of-day popularity rankings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218688" y="3886200"/>
            <a:ext cx="2606040" cy="804672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Restaurant: 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291840" y="4169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Cuisine-level MBA rules + category popularity from similar restaurants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53328" y="3886200"/>
            <a:ext cx="2606040" cy="804672"/>
          </a:xfrm>
          <a:prstGeom prst="rect">
            <a:avLst/>
          </a:prstGeom>
          <a:solidFill>
            <a:srgbClr val="0D0D18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0" y="3913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126480" y="416966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priors + price-band matching + cuisine association rules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Analysis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02_market_basket_analysis.py  —  Apriori algorithm + Association rules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2743200" cy="1783080"/>
          </a:xfrm>
          <a:prstGeom prst="rect">
            <a:avLst/>
          </a:prstGeom>
          <a:solidFill>
            <a:srgbClr val="14142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274320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704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Configuration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 = 0.02 (2%)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min_confidence = 0.30 (30%)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min_lift = 1.0 (beat random)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max_itemset_size = 3 (triples)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random state = 42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3017520" cy="178308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78992"/>
            <a:ext cx="301752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1170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Apriori 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4813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accepted interactions only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session → transactions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support for 1-itemsets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by min_support threshold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 &amp; 3-itemsets (apriori_gen)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association rules → export 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1078992"/>
            <a:ext cx="2468880" cy="178308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078992"/>
            <a:ext cx="246888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170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Statistics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1481328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~10K+ transactions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1-itemsets: 10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2-itemsets: 25+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3-itemsets: 8+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rules generated: 40+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conf: 0.52 | Max lift: 2.8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017520"/>
            <a:ext cx="416052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Scoring Formulae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349300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Support(A→B)  =  P(A ∪ B)  =  freq(A,B) / N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Confidence(A→B)  =  P(B|A)  =  Support(A∪B) / Support(A)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Lift(A→B)  =  Confidence(A→B) / Support(B)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017520"/>
            <a:ext cx="4251960" cy="1828800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017520"/>
            <a:ext cx="425196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get_recommendations() Logic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349300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cart items to category set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antecedents against current cart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all matching consequents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by item category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confidence (descending)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top-K recommendations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Part 1: User &amp; Restaurant Features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03_feature_engineering_FINAL.py  —  47 total features across 6 groups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160520" cy="37947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416052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  (Group 1)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1554480"/>
            <a:ext cx="38862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user_segment — Encoded: budget=1, occasional=2, premium=3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user_csao_acceptance_rate — Historical 30-day rolling accept %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user_order_frequency — Orders per month (segment-derived)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user_avg_order_value — Mean cart value from history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user_account_age_days — Account tenure (30–1825 days)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user_dietary_pref — veg=1, both=2, non_veg=3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user_preferred_price_range — budget / moderate / premium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user_city — Label-encoded city identifier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206240" cy="37947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78992"/>
            <a:ext cx="42062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FEATURES  (Group 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977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restaurant_rating — Star rating (2.5–4.9)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restaurant_is_chain — Binary: chain vs independent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restaurant_delivery_rating — Last-mile delivery score (4.0–4.8)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restaurant_avg_delivery_time — Minutes to deliver (25–50)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restaurant_total_orders — Historical volume (100–5000)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restaurant_price_band — Encoded price category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restaurant_primary_cuisine — Label-encoded cuisine type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random plausible values if restaurant_id missing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solidFill>
            <a:srgbClr val="1C1C36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create_features() orchestrates 6 independent groups → concat → dedup columns → reset index  |  All categoricals: LabelEncoder  |  Missing values: fillna(mean)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Part 2: Item, Cart, Temporal &amp; Interaction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03_feature_engineering_FINAL.py  —  Real-time + Batch split strategy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206240" cy="182880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420624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FEATURES  (Group 3)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517904"/>
            <a:ext cx="3977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recommended_item_category — main/side/dessert/beverage/condiment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recommended_item_price — Candidate item price (₹)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recommended_item_is_veg — Binary dietary flag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recommended_item_is_popular — 30% of items flagged popular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recommended_item_rating — Avg star rating (3.5–4.9)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recommended_item_order_count — Historical orders (10–1000)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078992"/>
            <a:ext cx="4206240" cy="1828800"/>
          </a:xfrm>
          <a:prstGeom prst="rect">
            <a:avLst/>
          </a:prstGeom>
          <a:solidFill>
            <a:srgbClr val="1C1C36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78992"/>
            <a:ext cx="420624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704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CONTEXT  (Group 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517904"/>
            <a:ext cx="3977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cart_item_category — Primary category of main cart item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cart_item_price — Price of the triggering cart item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recommendation_position — Position shown in rail (0-indexed)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rank_score — Confidence score from MBA × position decay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recommendation_reason — Category string (e.g. 'Goes well with main')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cart_total_value — Aggregate price of all current items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44952"/>
            <a:ext cx="4206240" cy="1828800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44952"/>
            <a:ext cx="420624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  (Group 5)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483864"/>
            <a:ext cx="3977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meal_time — breakfast=1 / lunch=2 / snack=3 / dinner=4 / late_night=5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hour_of_day — Derived from meal_time mapping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 — 0–6 (Monday–Sunday)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 — Binary flag (Sat=1, Sun=1)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device_type — mobile=1 / web=2 / tablet=3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3044952"/>
            <a:ext cx="4206240" cy="1828800"/>
          </a:xfrm>
          <a:prstGeom prst="rect">
            <a:avLst/>
          </a:prstGeom>
          <a:solidFill>
            <a:srgbClr val="1C1C36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44952"/>
            <a:ext cx="420624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  (Group 6)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18888" y="3483864"/>
            <a:ext cx="39776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user_item_category_affinity — Cross feature: segment × item category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price_segment_match — User price range vs item price band match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meal_category_fit — Temporal context × item category alignment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position_score — Decay factor: 0.9^(position//3)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main_item_id — Reference item that triggered recommendation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solidFill>
            <a:srgbClr val="0D1B4B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377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(Redis, 1-hr TTL): user_* / restaurant_* / item_* features    |    REAL-TIME (&lt;25ms): cart state, session context, position, rank_score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Problem Formulation &amp; Data Preparation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04_model_training.py  —  Temporal split · Class balance · 47 features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206240" cy="37947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420624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55448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</a:t>
            </a:r>
            <a:pPr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 Learning-to-Rank (binary classification)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tuple: </a:t>
            </a:r>
            <a:pPr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(user, cart_state, candidate_item, context)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P(accepted = 1)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</a:t>
            </a:r>
            <a:pPr indent="0" marL="0">
              <a:buNone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candidates by P(accept), return top-N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 GBDT: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Native handling of categorical features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Fast inference (&lt;50ms for full score pass)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Strong performance on tabular data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Built-in feature importance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Handles class imbalance via scale_pos_weight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78992"/>
            <a:ext cx="4206240" cy="37947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78992"/>
            <a:ext cx="42062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(prepare_data)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572768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cols: LabelEncoder (fit on train only)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values: fillna(column mean)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split: 80/20 — no future leakage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split_idx = int(len * 0.80) — respects time order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set: ~160K samples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~40K samples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47 engineered columns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ratio (train): ~39%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class ratio (test): ~39%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accepted column (0/1 integer)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— LightGBM Hyperparameters &amp; Ensemble Strategy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04_model_training.py  —  GBDT binary  ·  Early stopping  ·  Soft-voting ensemble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206240" cy="3794760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420624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Hyperparameters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63040" y="157276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23160" y="15727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boosting_type: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0" y="157276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gbdt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18470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463040" y="18470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23160" y="18470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num_leaves: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0" y="18470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212140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463040" y="212140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23160" y="212140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feature_fraction: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74720" y="212140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bagging_fraction: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63040" y="239572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23160" y="239572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bagging_freq: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74720" y="239572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267004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63040" y="26700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23160" y="267004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lambda_l1: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474720" y="267004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1480" y="2944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lambda_l2: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463040" y="294436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23160" y="294436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num_threads: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74720" y="294436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(all cores)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11480" y="32186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num_boost_round: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463040" y="32186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(max)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423160" y="321868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early_stopping: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474720" y="321868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rounds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3493008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463040" y="3493008"/>
            <a:ext cx="868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(silent)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1078992"/>
            <a:ext cx="4206240" cy="379476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1078992"/>
            <a:ext cx="420624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Strategy (train_ensemble)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00600" y="1572768"/>
            <a:ext cx="3931920" cy="658368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186537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max_depth=15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n_jobs=-1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4944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0.76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00600" y="2322576"/>
            <a:ext cx="3931920" cy="658368"/>
          </a:xfrm>
          <a:prstGeom prst="rect">
            <a:avLst/>
          </a:prstGeom>
          <a:solidFill>
            <a:srgbClr val="0D0D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26151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lr=0.1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949440" y="2487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0.74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00600" y="3072384"/>
            <a:ext cx="3931920" cy="658368"/>
          </a:xfrm>
          <a:prstGeom prst="rect">
            <a:avLst/>
          </a:prstGeom>
          <a:solidFill>
            <a:srgbClr val="0D0D18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1181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(base)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9204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above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 ensemble: 40%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49440" y="323697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0.847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800600" y="3822192"/>
            <a:ext cx="3931920" cy="658368"/>
          </a:xfrm>
          <a:prstGeom prst="rect">
            <a:avLst/>
          </a:prstGeom>
          <a:solidFill>
            <a:srgbClr val="0D0D18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3867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Ensemble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9204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RF×0.3 + GB×0.3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LGB×0.4 (weighted avg)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49440" y="398678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0.851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00600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Decision: LightGBM-only (ensemble +0.004 AUC but 2x latency — not worth the trade-off at 200ms SLA)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Baseline Comparison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04_model_training.py  —  Comprehensive metrics · Error analysis · Segment breakdown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4206240" cy="224028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42062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Model Results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AUC-ROC: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00200" y="1572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572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0" y="1572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0020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18470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Precision@3: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0" y="18470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2121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Precision@5: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00200" y="21214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2121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Precision@10: 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0" y="21214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Recall@5: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00200" y="23957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Recall@10: 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0" y="239572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NDCG@5: 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00200" y="26700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26700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0" y="26700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0.572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1078992"/>
            <a:ext cx="4206240" cy="2240280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1078992"/>
            <a:ext cx="420624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1704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 Our Model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00600" y="15727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Baseline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46520" y="1600200"/>
            <a:ext cx="659740" cy="182880"/>
          </a:xfrm>
          <a:prstGeom prst="rect">
            <a:avLst/>
          </a:prstGeom>
          <a:solidFill>
            <a:srgbClr val="7070A0"/>
          </a:solidFill>
          <a:ln w="12700">
            <a:solidFill>
              <a:srgbClr val="7070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1980" y="157276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18653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Collab. Filter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46520" y="1892808"/>
            <a:ext cx="1872234" cy="182880"/>
          </a:xfrm>
          <a:prstGeom prst="rect">
            <a:avLst/>
          </a:prstGeom>
          <a:solidFill>
            <a:srgbClr val="8888FF"/>
          </a:solidFill>
          <a:ln w="12700">
            <a:solidFill>
              <a:srgbClr val="8888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64474" y="18653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8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215798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446520" y="2185416"/>
            <a:ext cx="2318004" cy="182880"/>
          </a:xfrm>
          <a:prstGeom prst="rect">
            <a:avLst/>
          </a:prstGeom>
          <a:solidFill>
            <a:srgbClr val="AACCEE"/>
          </a:solidFill>
          <a:ln w="12700">
            <a:solidFill>
              <a:srgbClr val="AACC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10244" y="21579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00600" y="24505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46520" y="2478024"/>
            <a:ext cx="2139696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31936" y="245059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00600" y="274320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(Ours)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46520" y="2770632"/>
            <a:ext cx="3093644" cy="1828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85884" y="274320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00600" y="29992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vs Baseline: +47.6%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74320" y="3493008"/>
            <a:ext cx="8595360" cy="137160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74320" y="3493008"/>
            <a:ext cx="859536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584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Methodology &amp; Error Analysis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1480" y="3977640"/>
            <a:ext cx="8366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split (no leakage): Train on first 80% of data by time, test on most recent 20%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error analysis: Budget users AUC 0.82 | Occasional 0.85 | Premium 0.87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time breakdown: Dinner 0.86 | Lunch 0.84 | Late night 0.79 (sparse data)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cases: New users / new restaurants → routed to cold start fallback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End-to-End Pipeline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features to real-time recommendations at 200ms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5400000">
            <a:off x="18288" y="120700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 rot="5400000">
            <a:off x="18288" y="212140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 rot="5400000">
            <a:off x="18288" y="303580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 rot="5400000">
            <a:off x="18288" y="3950208"/>
            <a:ext cx="438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02920" y="1115568"/>
            <a:ext cx="1920240" cy="658368"/>
          </a:xfrm>
          <a:prstGeom prst="rect">
            <a:avLst/>
          </a:prstGeom>
          <a:solidFill>
            <a:srgbClr val="1C1C36"/>
          </a:solidFill>
          <a:ln w="19050">
            <a:solidFill>
              <a:srgbClr val="8888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115568"/>
            <a:ext cx="1920240" cy="50292"/>
          </a:xfrm>
          <a:prstGeom prst="rect">
            <a:avLst/>
          </a:prstGeom>
          <a:solidFill>
            <a:srgbClr val="8888FF"/>
          </a:solidFill>
          <a:ln w="12700">
            <a:solidFill>
              <a:srgbClr val="888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115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88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Features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87752" y="1115568"/>
            <a:ext cx="1920240" cy="658368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87752" y="1115568"/>
            <a:ext cx="192024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115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Context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72584" y="1115568"/>
            <a:ext cx="1920240" cy="658368"/>
          </a:xfrm>
          <a:prstGeom prst="rect">
            <a:avLst/>
          </a:prstGeom>
          <a:solidFill>
            <a:srgbClr val="1C1C36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115568"/>
            <a:ext cx="192024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115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757416" y="1115568"/>
            <a:ext cx="1920240" cy="658368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57416" y="1115568"/>
            <a:ext cx="19202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111556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Signals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463040" y="1773936"/>
            <a:ext cx="0" cy="292608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3547872" y="1773936"/>
            <a:ext cx="0" cy="292608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5632704" y="1773936"/>
            <a:ext cx="0" cy="292608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7717536" y="1773936"/>
            <a:ext cx="0" cy="292608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29" name="Shape 27"/>
          <p:cNvSpPr/>
          <p:nvPr/>
        </p:nvSpPr>
        <p:spPr>
          <a:xfrm>
            <a:off x="502920" y="2029968"/>
            <a:ext cx="8366760" cy="685800"/>
          </a:xfrm>
          <a:prstGeom prst="rect">
            <a:avLst/>
          </a:prstGeom>
          <a:solidFill>
            <a:srgbClr val="0A1A35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2029968"/>
            <a:ext cx="836676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029968"/>
            <a:ext cx="8366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Pipeline  |  03_feature_engineering_FINAL.py  |  47 features  |  Batch (Redis 1hr TTL) + Real-time (&lt;25ms)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0" y="2715768"/>
            <a:ext cx="0" cy="256032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4681728" y="2715768"/>
            <a:ext cx="0" cy="256032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7543800" y="2715768"/>
            <a:ext cx="0" cy="256032"/>
          </a:xfrm>
          <a:prstGeom prst="line">
            <a:avLst/>
          </a:prstGeom>
          <a:noFill/>
          <a:ln w="12700">
            <a:solidFill>
              <a:srgbClr val="7070A0"/>
            </a:solidFill>
            <a:prstDash val="sysDot"/>
          </a:ln>
        </p:spPr>
      </p:sp>
      <p:sp>
        <p:nvSpPr>
          <p:cNvPr id="35" name="Shape 33"/>
          <p:cNvSpPr/>
          <p:nvPr/>
        </p:nvSpPr>
        <p:spPr>
          <a:xfrm>
            <a:off x="502920" y="2944368"/>
            <a:ext cx="2560320" cy="868680"/>
          </a:xfrm>
          <a:prstGeom prst="rect">
            <a:avLst/>
          </a:prstGeom>
          <a:solidFill>
            <a:srgbClr val="14142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44368"/>
            <a:ext cx="256032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2944368"/>
            <a:ext cx="64008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1792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02_market_basket.py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· conf&gt;0.30 · lift&gt;1.0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19272" y="2944368"/>
            <a:ext cx="2560320" cy="868680"/>
          </a:xfrm>
          <a:prstGeom prst="rect">
            <a:avLst/>
          </a:prstGeom>
          <a:solidFill>
            <a:srgbClr val="14142A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319272" y="2944368"/>
            <a:ext cx="256032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19272" y="2944368"/>
            <a:ext cx="64008" cy="86868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8144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L2R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[PRIMARY]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438144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04_model_training.py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0.847 · 47 features · GBDT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35624" y="2944368"/>
            <a:ext cx="2560320" cy="86868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35624" y="2944368"/>
            <a:ext cx="256032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35624" y="2944368"/>
            <a:ext cx="64008" cy="86868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54496" y="33832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rules +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 defaults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828800" y="3813048"/>
            <a:ext cx="0" cy="228600"/>
          </a:xfrm>
          <a:prstGeom prst="line">
            <a:avLst/>
          </a:prstGeom>
          <a:noFill/>
          <a:ln w="19050">
            <a:solidFill>
              <a:srgbClr val="00C896"/>
            </a:solidFill>
            <a:prstDash val="sysDot"/>
          </a:ln>
        </p:spPr>
      </p:sp>
      <p:sp>
        <p:nvSpPr>
          <p:cNvPr id="51" name="Shape 49"/>
          <p:cNvSpPr/>
          <p:nvPr/>
        </p:nvSpPr>
        <p:spPr>
          <a:xfrm>
            <a:off x="4681728" y="3813048"/>
            <a:ext cx="0" cy="228600"/>
          </a:xfrm>
          <a:prstGeom prst="line">
            <a:avLst/>
          </a:prstGeom>
          <a:noFill/>
          <a:ln w="19050">
            <a:solidFill>
              <a:srgbClr val="00C896"/>
            </a:solidFill>
            <a:prstDash val="sysDot"/>
          </a:ln>
        </p:spPr>
      </p:sp>
      <p:sp>
        <p:nvSpPr>
          <p:cNvPr id="52" name="Shape 50"/>
          <p:cNvSpPr/>
          <p:nvPr/>
        </p:nvSpPr>
        <p:spPr>
          <a:xfrm>
            <a:off x="7543800" y="3813048"/>
            <a:ext cx="0" cy="228600"/>
          </a:xfrm>
          <a:prstGeom prst="line">
            <a:avLst/>
          </a:prstGeom>
          <a:noFill/>
          <a:ln w="19050">
            <a:solidFill>
              <a:srgbClr val="00C896"/>
            </a:solidFill>
            <a:prstDash val="sysDot"/>
          </a:ln>
        </p:spPr>
      </p:sp>
      <p:sp>
        <p:nvSpPr>
          <p:cNvPr id="53" name="Shape 51"/>
          <p:cNvSpPr/>
          <p:nvPr/>
        </p:nvSpPr>
        <p:spPr>
          <a:xfrm>
            <a:off x="502920" y="4005072"/>
            <a:ext cx="5943600" cy="777240"/>
          </a:xfrm>
          <a:prstGeom prst="rect">
            <a:avLst/>
          </a:prstGeom>
          <a:solidFill>
            <a:srgbClr val="061A0E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005072"/>
            <a:ext cx="59436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00507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API  |  Flask + Gunicorn  |  Redis Cache  |  &lt;200ms p95  |  05_inference_api.py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629400" y="4005072"/>
            <a:ext cx="2240280" cy="347472"/>
          </a:xfrm>
          <a:prstGeom prst="rect">
            <a:avLst/>
          </a:prstGeom>
          <a:solidFill>
            <a:srgbClr val="14142A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629400" y="4005072"/>
            <a:ext cx="224028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75120" y="400507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 |  06_ab_testing.py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629400" y="4407408"/>
            <a:ext cx="2240280" cy="347472"/>
          </a:xfrm>
          <a:prstGeom prst="rect">
            <a:avLst/>
          </a:prstGeom>
          <a:solidFill>
            <a:srgbClr val="14142A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629400" y="4407408"/>
            <a:ext cx="224028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4407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|  07_dashboard.py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583680" y="4206240"/>
            <a:ext cx="45720" cy="0"/>
          </a:xfrm>
          <a:prstGeom prst="line">
            <a:avLst/>
          </a:prstGeom>
          <a:noFill/>
          <a:ln w="12700">
            <a:solidFill>
              <a:srgbClr val="FFD06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583680" y="4389120"/>
            <a:ext cx="45720" cy="0"/>
          </a:xfrm>
          <a:prstGeom prst="line">
            <a:avLst/>
          </a:prstGeom>
          <a:noFill/>
          <a:ln w="12700">
            <a:solidFill>
              <a:srgbClr val="A855F7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Cart Recommendation Logic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re-ranking on every cart mutation — meal completion driven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1353312" cy="2423160"/>
          </a:xfrm>
          <a:prstGeom prst="rect">
            <a:avLst/>
          </a:prstGeom>
          <a:solidFill>
            <a:srgbClr val="14142A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1353312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704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" y="1463040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Cart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" y="22860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Cart: 1 item · ₹220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category='main'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01168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737360" y="1078992"/>
            <a:ext cx="1353312" cy="2423160"/>
          </a:xfrm>
          <a:prstGeom prst="rect">
            <a:avLst/>
          </a:prstGeom>
          <a:solidFill>
            <a:srgbClr val="0D1B4B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737360" y="1078992"/>
            <a:ext cx="1353312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11704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92224" y="1463040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Salan / Raita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92224" y="22860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rule fires: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conf=86% · lift=2.4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90672" y="201168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1078992"/>
            <a:ext cx="1353312" cy="242316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078992"/>
            <a:ext cx="1353312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1704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55264" y="1463040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255264" y="22860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Cart: 2 items · ₹280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category='side' added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3712" y="201168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078992"/>
            <a:ext cx="1353312" cy="2423160"/>
          </a:xfrm>
          <a:prstGeom prst="rect">
            <a:avLst/>
          </a:prstGeom>
          <a:solidFill>
            <a:srgbClr val="0D1B4B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078992"/>
            <a:ext cx="1353312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11704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18304" y="1463040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Gulab Jamun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18304" y="22860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meal_completion_score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dessert=61%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16752" y="201168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126480" y="1078992"/>
            <a:ext cx="1353312" cy="2423160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078992"/>
            <a:ext cx="1353312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1704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81344" y="1463040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Gulab Jamun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81344" y="22860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Cart: 3 items · ₹340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course complete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79792" y="2011680"/>
            <a:ext cx="109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589520" y="1078992"/>
            <a:ext cx="1353312" cy="2423160"/>
          </a:xfrm>
          <a:prstGeom prst="rect">
            <a:avLst/>
          </a:prstGeom>
          <a:solidFill>
            <a:srgbClr val="0D1B4B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89520" y="1078992"/>
            <a:ext cx="1353312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117043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44384" y="1463040"/>
            <a:ext cx="1261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Lassi / Pepsi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644384" y="2286000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Biryani→Beverage: 92%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completion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4572000" cy="146304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3703320"/>
            <a:ext cx="457200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7947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meal_completion_score Calculation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11480" y="4133088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ideal_vector  = [main:1, side:1, beverage:1, dessert:0.5, condiment:0.3]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cart_vector   = [main:1, side:0, beverage:0, dessert:0, condiment:0]
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 =  cosine_similarity(cart_vector, ideal_vector)  → 0.41 → Recommend sides!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074920" y="3703320"/>
            <a:ext cx="3794760" cy="146304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074920" y="3703320"/>
            <a:ext cx="379476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37947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Decay &amp; Score Formula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12080" y="4133088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score(i)  =  confidence  ×  (0.9 ^ (i // 3))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0F0F8"/>
                </a:solidFill>
              </a:rPr>
              <a:t>Position 0-2: full confidence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F0F0F8"/>
                </a:solidFill>
              </a:rPr>
              <a:t>Position 3-5: ×0.9 decay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7070A0"/>
                </a:solidFill>
              </a:rPr>
              <a:t>Position 6+:  ×0.81 decay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API — Real-Time Architecture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05_inference_api.py  —  Flask + Redis + LightGBM  —  5-step pipeline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70432"/>
            <a:ext cx="7315200" cy="658368"/>
          </a:xfrm>
          <a:prstGeom prst="rect">
            <a:avLst/>
          </a:prstGeom>
          <a:solidFill>
            <a:srgbClr val="1C1C36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70432"/>
            <a:ext cx="822960" cy="658368"/>
          </a:xfrm>
          <a:prstGeom prst="rect">
            <a:avLst/>
          </a:prstGeom>
          <a:solidFill>
            <a:srgbClr val="00C8E8"/>
          </a:solidFill>
          <a:ln w="10160">
            <a:solidFill>
              <a:srgbClr val="0D0D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883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Retrieval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 Cache)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80160" y="1170432"/>
            <a:ext cx="1143000" cy="658368"/>
          </a:xfrm>
          <a:prstGeom prst="rect">
            <a:avLst/>
          </a:prstGeom>
          <a:solidFill>
            <a:srgbClr val="FFD060"/>
          </a:solidFill>
          <a:ln w="10160">
            <a:solidFill>
              <a:srgbClr val="0D0D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170432"/>
            <a:ext cx="1143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94460" y="1883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1170432"/>
            <a:ext cx="1828800" cy="658368"/>
          </a:xfrm>
          <a:prstGeom prst="rect">
            <a:avLst/>
          </a:prstGeom>
          <a:solidFill>
            <a:srgbClr val="E23744"/>
          </a:solidFill>
          <a:ln w="10160">
            <a:solidFill>
              <a:srgbClr val="0D0D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1704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1883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51960" y="1170432"/>
            <a:ext cx="1005840" cy="658368"/>
          </a:xfrm>
          <a:prstGeom prst="rect">
            <a:avLst/>
          </a:prstGeom>
          <a:solidFill>
            <a:srgbClr val="00C896"/>
          </a:solidFill>
          <a:ln w="10160">
            <a:solidFill>
              <a:srgbClr val="0D0D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1960" y="117043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7680" y="1883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Re-rank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257800" y="1170432"/>
            <a:ext cx="685800" cy="658368"/>
          </a:xfrm>
          <a:prstGeom prst="rect">
            <a:avLst/>
          </a:prstGeom>
          <a:solidFill>
            <a:srgbClr val="FF6B35"/>
          </a:solidFill>
          <a:ln w="10160">
            <a:solidFill>
              <a:srgbClr val="0D0D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170432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43500" y="188366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601200" y="1033272"/>
            <a:ext cx="0" cy="795528"/>
          </a:xfrm>
          <a:prstGeom prst="line">
            <a:avLst/>
          </a:prstGeom>
          <a:noFill/>
          <a:ln w="25400">
            <a:solidFill>
              <a:srgbClr val="FF444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656064" y="9144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200ms SLA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25237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120ms  —  UNDER SLA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909560" y="1170432"/>
            <a:ext cx="960120" cy="1920240"/>
          </a:xfrm>
          <a:prstGeom prst="rect">
            <a:avLst/>
          </a:prstGeom>
          <a:solidFill>
            <a:srgbClr val="061A0E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09560" y="1170432"/>
            <a:ext cx="96012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09560" y="128016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0956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909560" y="206654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2788920"/>
            <a:ext cx="470916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2788920"/>
            <a:ext cx="470916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880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11480" y="32735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/recommend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94560" y="3273552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inference — cart JSON → ranked add-ons + latency breakdown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3712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/health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94560" y="371246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probe — model load status + Redis connectivity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41513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/metrics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194560" y="415137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counters — latency p95, throughput, cache hit rate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459028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/reload-model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94560" y="4590288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trained model without server restart or downtime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120640" y="2788920"/>
            <a:ext cx="374904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120640" y="2788920"/>
            <a:ext cx="374904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5780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Fallback Chain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257800" y="3273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989320" y="32735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for detected cuisine type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57800" y="3730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89320" y="37307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popular items for current meal time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57800" y="41879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989320" y="4187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bestsellers ranked by order velocity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57800" y="46451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Guarantees: 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989320" y="46451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output for ALL users — 100% coverage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 Framework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06_ab_testing_framework.py  —  Statistical rigor for live deployment validation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2788920" cy="233172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278892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704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1554480"/>
            <a:ext cx="256032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level: α = 0.05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sample: 100,000 sessions/arm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MDE: 5% relative lift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~7 days at 10% traffic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Bucketing: user-hash deterministic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Bonferroni correction applied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078992"/>
            <a:ext cx="2834640" cy="233172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78992"/>
            <a:ext cx="283464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17043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 Used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83280" y="1554480"/>
            <a:ext cx="26060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(continuous): Welch's t-test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rate: Z-test (proportions)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C2O ratio: Welch's t-test (guardrail)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CTR: Z-test for proportions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intervals: 95% (±1.96σ)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size: Cohen's d calculated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078992"/>
            <a:ext cx="2606040" cy="233172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078992"/>
            <a:ext cx="260604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1704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23774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primary metric up + guardrail OK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primary up + guardrail violated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CONTROL: no significant improvement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results saved to JSON report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84448"/>
          <a:ext cx="8595360" cy="150876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417320"/>
                <a:gridCol w="1417320"/>
                <a:gridCol w="1554480"/>
                <a:gridCol w="1005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Lift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Order Value (AOV)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₹310 (μ=420)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₹418 (μ=498)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+35% (+18.4% in sim)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CSAO Acceptance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(39.1%)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41% (47.3%)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+86% (+8.2pp lift)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Cart-to-Order Ratio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(2.9)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 (3.4)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+16% must not fall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Click-Through Rate (CTR)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Abandonment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not 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degradation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0F0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 — Business Impact at a Glance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LightGBM Model vs Popularity Baseline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2011680" cy="3794760"/>
          </a:xfrm>
          <a:prstGeom prst="rect">
            <a:avLst/>
          </a:prstGeom>
          <a:solidFill>
            <a:srgbClr val="1C1C36"/>
          </a:solidFill>
          <a:ln w="22860">
            <a:solidFill>
              <a:srgbClr val="00C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2011680" cy="54864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33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" y="1874520"/>
            <a:ext cx="1691640" cy="804672"/>
          </a:xfrm>
          <a:prstGeom prst="rect">
            <a:avLst/>
          </a:prstGeom>
          <a:solidFill>
            <a:srgbClr val="1C1C38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01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38912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₹310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24912"/>
            <a:ext cx="0" cy="274320"/>
          </a:xfrm>
          <a:prstGeom prst="line">
            <a:avLst/>
          </a:prstGeom>
          <a:noFill/>
          <a:ln w="31750">
            <a:solidFill>
              <a:srgbClr val="00C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" y="3154680"/>
            <a:ext cx="1691640" cy="804672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821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38912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₹418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475488" y="4069080"/>
            <a:ext cx="1618488" cy="6217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069080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2468880" y="1078992"/>
            <a:ext cx="2011680" cy="3794760"/>
          </a:xfrm>
          <a:prstGeom prst="rect">
            <a:avLst/>
          </a:prstGeom>
          <a:solidFill>
            <a:srgbClr val="1C1C36"/>
          </a:solidFill>
          <a:ln w="2286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468880" y="1078992"/>
            <a:ext cx="201168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1133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Rail Acceptance Rate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33472" y="1874520"/>
            <a:ext cx="1691640" cy="804672"/>
          </a:xfrm>
          <a:prstGeom prst="rect">
            <a:avLst/>
          </a:prstGeom>
          <a:solidFill>
            <a:srgbClr val="1C1C38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1901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633472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3383280" y="2724912"/>
            <a:ext cx="0" cy="274320"/>
          </a:xfrm>
          <a:prstGeom prst="line">
            <a:avLst/>
          </a:prstGeom>
          <a:noFill/>
          <a:ln w="3175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633472" y="3154680"/>
            <a:ext cx="1691640" cy="804672"/>
          </a:xfrm>
          <a:prstGeom prst="rect">
            <a:avLst/>
          </a:prstGeom>
          <a:solidFill>
            <a:srgbClr val="14142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33472" y="31821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633472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2600" dirty="0"/>
          </a:p>
        </p:txBody>
      </p:sp>
      <p:sp>
        <p:nvSpPr>
          <p:cNvPr id="35" name="Shape 33"/>
          <p:cNvSpPr/>
          <p:nvPr/>
        </p:nvSpPr>
        <p:spPr>
          <a:xfrm>
            <a:off x="2670048" y="4069080"/>
            <a:ext cx="1618488" cy="6217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4069080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4663440" y="1078992"/>
            <a:ext cx="2011680" cy="3794760"/>
          </a:xfrm>
          <a:prstGeom prst="rect">
            <a:avLst/>
          </a:prstGeom>
          <a:solidFill>
            <a:srgbClr val="1C1C36"/>
          </a:solidFill>
          <a:ln w="22860">
            <a:solidFill>
              <a:srgbClr val="FFD0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078992"/>
            <a:ext cx="2011680" cy="54864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1133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C2O Rate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6344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Cart-to-Order Ratio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28032" y="1874520"/>
            <a:ext cx="1691640" cy="804672"/>
          </a:xfrm>
          <a:prstGeom prst="rect">
            <a:avLst/>
          </a:prstGeom>
          <a:solidFill>
            <a:srgbClr val="1C1C38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1901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600" dirty="0"/>
          </a:p>
        </p:txBody>
      </p:sp>
      <p:sp>
        <p:nvSpPr>
          <p:cNvPr id="44" name="Shape 42"/>
          <p:cNvSpPr/>
          <p:nvPr/>
        </p:nvSpPr>
        <p:spPr>
          <a:xfrm>
            <a:off x="5577840" y="2724912"/>
            <a:ext cx="0" cy="274320"/>
          </a:xfrm>
          <a:prstGeom prst="line">
            <a:avLst/>
          </a:prstGeom>
          <a:noFill/>
          <a:ln w="31750">
            <a:solidFill>
              <a:srgbClr val="FFD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828032" y="3154680"/>
            <a:ext cx="1691640" cy="804672"/>
          </a:xfrm>
          <a:prstGeom prst="rect">
            <a:avLst/>
          </a:prstGeom>
          <a:solidFill>
            <a:srgbClr val="14142A"/>
          </a:solidFill>
          <a:ln w="19050">
            <a:solidFill>
              <a:srgbClr val="FFD0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31821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828032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2600" dirty="0"/>
          </a:p>
        </p:txBody>
      </p:sp>
      <p:sp>
        <p:nvSpPr>
          <p:cNvPr id="49" name="Shape 47"/>
          <p:cNvSpPr/>
          <p:nvPr/>
        </p:nvSpPr>
        <p:spPr>
          <a:xfrm>
            <a:off x="4864608" y="4069080"/>
            <a:ext cx="1618488" cy="6217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64608" y="4069080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2400" dirty="0"/>
          </a:p>
        </p:txBody>
      </p:sp>
      <p:sp>
        <p:nvSpPr>
          <p:cNvPr id="51" name="Shape 49"/>
          <p:cNvSpPr/>
          <p:nvPr/>
        </p:nvSpPr>
        <p:spPr>
          <a:xfrm>
            <a:off x="6858000" y="1078992"/>
            <a:ext cx="2011680" cy="3794760"/>
          </a:xfrm>
          <a:prstGeom prst="rect">
            <a:avLst/>
          </a:prstGeom>
          <a:solidFill>
            <a:srgbClr val="1C1C36"/>
          </a:solidFill>
          <a:ln w="22860">
            <a:solidFill>
              <a:srgbClr val="E237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1078992"/>
            <a:ext cx="2011680" cy="54864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113385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Rate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85800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CSAO Rail Order Share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022592" y="1874520"/>
            <a:ext cx="1691640" cy="804672"/>
          </a:xfrm>
          <a:prstGeom prst="rect">
            <a:avLst/>
          </a:prstGeom>
          <a:solidFill>
            <a:srgbClr val="1C1C38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92" y="190195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022592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600" dirty="0"/>
          </a:p>
        </p:txBody>
      </p:sp>
      <p:sp>
        <p:nvSpPr>
          <p:cNvPr id="58" name="Shape 56"/>
          <p:cNvSpPr/>
          <p:nvPr/>
        </p:nvSpPr>
        <p:spPr>
          <a:xfrm>
            <a:off x="7772400" y="2724912"/>
            <a:ext cx="0" cy="274320"/>
          </a:xfrm>
          <a:prstGeom prst="line">
            <a:avLst/>
          </a:prstGeom>
          <a:noFill/>
          <a:ln w="31750">
            <a:solidFill>
              <a:srgbClr val="E237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43800" y="29443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022592" y="3154680"/>
            <a:ext cx="1691640" cy="804672"/>
          </a:xfrm>
          <a:prstGeom prst="rect">
            <a:avLst/>
          </a:prstGeom>
          <a:solidFill>
            <a:srgbClr val="14142A"/>
          </a:solidFill>
          <a:ln w="19050">
            <a:solidFill>
              <a:srgbClr val="E2374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22592" y="3182112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022592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2600" dirty="0"/>
          </a:p>
        </p:txBody>
      </p:sp>
      <p:sp>
        <p:nvSpPr>
          <p:cNvPr id="63" name="Shape 61"/>
          <p:cNvSpPr/>
          <p:nvPr/>
        </p:nvSpPr>
        <p:spPr>
          <a:xfrm>
            <a:off x="7059168" y="4069080"/>
            <a:ext cx="1618488" cy="6217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59168" y="4069080"/>
            <a:ext cx="1618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+158%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Production Readiness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millions of daily requests · Peak lunch/dinner throughput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160020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160020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1704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Workers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645920"/>
            <a:ext cx="1481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 + k8s HPA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QPS per 4-core worker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auto-scaling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11680" y="1078992"/>
            <a:ext cx="160020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078992"/>
            <a:ext cx="16002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84832" y="11704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Cache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1645920"/>
            <a:ext cx="1481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(sharded)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1-hour TTL for batch 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reads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0" y="1078992"/>
            <a:ext cx="160020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49040" y="1078992"/>
            <a:ext cx="160020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11704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Pipeline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22192" y="1645920"/>
            <a:ext cx="1481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full refresh + hourly delta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Auto-retry on failure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078992"/>
            <a:ext cx="160020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078992"/>
            <a:ext cx="160020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59552" y="11704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59552" y="1645920"/>
            <a:ext cx="1481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versioned artifacts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without downtime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capability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23760" y="1078992"/>
            <a:ext cx="1600200" cy="2423160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078992"/>
            <a:ext cx="160020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96912" y="11704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96912" y="1645920"/>
            <a:ext cx="148132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p50/p95/p99 dashboards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alerts + auto-page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703320"/>
            <a:ext cx="8595360" cy="146304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703320"/>
            <a:ext cx="859536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Targets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QPS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5720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throughput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workers)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87452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120ms p95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87452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budget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29184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29184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prediction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0916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470916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uptime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2648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1hr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12648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data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543800" y="41605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543800" y="4590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via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fallback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960120"/>
          </a:xfrm>
          <a:prstGeom prst="rect">
            <a:avLst/>
          </a:prstGeom>
          <a:solidFill>
            <a:srgbClr val="B52D3A"/>
          </a:solidFill>
          <a:ln w="12700">
            <a:solidFill>
              <a:srgbClr val="B52D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201168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246888"/>
            <a:ext cx="256032" cy="256032"/>
          </a:xfrm>
          <a:prstGeom prst="ellipse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7072" y="182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 — How We Score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168" y="5486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Ninjas response to the official judging rubric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078992"/>
            <a:ext cx="2788920" cy="187452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78992"/>
            <a:ext cx="2788920" cy="5029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170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Feature Engineering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1792224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7 cities, 5 meal times, 3 segments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cuisine types, realistic price distributions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basket priors seeded from domain knowledge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engineered features across 6 groups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vs real-time pipeline clearly defined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3-step fallback chain with coverage guarantee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7066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078992"/>
            <a:ext cx="2788920" cy="1874520"/>
          </a:xfrm>
          <a:prstGeom prst="rect">
            <a:avLst/>
          </a:prstGeom>
          <a:solidFill>
            <a:srgbClr val="1C1C36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18688" y="1078992"/>
            <a:ext cx="278892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170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28416" y="1792224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Pointwise L2R framing with binary classification target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cart state tracking with meal completion score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Cuisine-aware recommendation diversity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for meal template completion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Handling: cold start, incomplete meals, diversity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28416" y="27066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63056" y="1078992"/>
            <a:ext cx="2788920" cy="1874520"/>
          </a:xfrm>
          <a:prstGeom prst="rect">
            <a:avLst/>
          </a:prstGeom>
          <a:solidFill>
            <a:srgbClr val="1C1C36"/>
          </a:solidFill>
          <a:ln w="19050">
            <a:solidFill>
              <a:srgbClr val="FFD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078992"/>
            <a:ext cx="2788920" cy="50292"/>
          </a:xfrm>
          <a:prstGeom prst="rect">
            <a:avLst/>
          </a:prstGeom>
          <a:solidFill>
            <a:srgbClr val="FFD060"/>
          </a:solidFill>
          <a:ln w="12700">
            <a:solidFill>
              <a:srgbClr val="FFD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117043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Edge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(20%)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2784" y="1792224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GBDT chosen for speed + tabular performance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Apriori for interpretable co-purchase rules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evaluation (RF + GB + LGB soft voting)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decay score for rail ranking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0.847 vs baseline 0.574 (+47.6% improvement)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72784" y="270662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090672"/>
            <a:ext cx="2788920" cy="1874520"/>
          </a:xfrm>
          <a:prstGeom prst="rect">
            <a:avLst/>
          </a:prstGeom>
          <a:solidFill>
            <a:srgbClr val="1C1C36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90672"/>
            <a:ext cx="278892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82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Fine-Tuning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3803904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train/test split — no data leakage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AUC, Accuracy, F1, Precision@K, Recall@K, NDCG@K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analysis: budget/occasional/premium breakdown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time analysis: dinner/lunch/late-night comparison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+ L1/L2 regularisation for overfitting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84048" y="471830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18688" y="3090672"/>
            <a:ext cx="2788920" cy="1874520"/>
          </a:xfrm>
          <a:prstGeom prst="rect">
            <a:avLst/>
          </a:prstGeom>
          <a:solidFill>
            <a:srgbClr val="1C1C36"/>
          </a:solidFill>
          <a:ln w="19050">
            <a:solidFill>
              <a:srgbClr val="E237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18688" y="3090672"/>
            <a:ext cx="2788920" cy="50292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28416" y="3182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28416" y="3803904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120ms p95 latency — well under 200ms SLA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pipeline with per-step latency breakdown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for pre-computed batch features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Gunicorn + k8s HPA horizontal scaling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QPS peak · MLflow model registry · hot-reload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28416" y="471830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63056" y="3090672"/>
            <a:ext cx="2788920" cy="1874520"/>
          </a:xfrm>
          <a:prstGeom prst="rect">
            <a:avLst/>
          </a:prstGeom>
          <a:solidFill>
            <a:srgbClr val="1C1C36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3090672"/>
            <a:ext cx="2788920" cy="5029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318211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(15%)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72784" y="3803904"/>
            <a:ext cx="2578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AOV lift (₹310 → ₹418)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 acceptance rate (22% → 41%)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+158% CSAO rail attach rate (12% → 31%)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 + Z-test + Bonferroni correction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metrics: C2O ratio + abandonment rate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72784" y="4718304"/>
            <a:ext cx="2578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8"/>
          </a:solidFill>
          <a:ln w="12700">
            <a:solidFill>
              <a:srgbClr val="0D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E23744"/>
          </a:solidFill>
          <a:ln w="12700">
            <a:solidFill>
              <a:srgbClr val="E237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6344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2376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2376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22376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6384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182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03920" y="868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03920" y="15544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22402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503920" y="29260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03920" y="36118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503920" y="4297680"/>
            <a:ext cx="45720" cy="45720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5720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</a:t>
            </a:r>
            <a:endParaRPr lang="en-US" sz="4400" dirty="0"/>
          </a:p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NINJAS</a:t>
            </a:r>
            <a:endParaRPr lang="en-US" sz="4400" dirty="0"/>
          </a:p>
        </p:txBody>
      </p:sp>
      <p:sp>
        <p:nvSpPr>
          <p:cNvPr id="54" name="Shape 52"/>
          <p:cNvSpPr/>
          <p:nvPr/>
        </p:nvSpPr>
        <p:spPr>
          <a:xfrm>
            <a:off x="365760" y="2103120"/>
            <a:ext cx="2743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Zomathon 2024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365760" y="26974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Super Add-On Recommendation System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" y="3474720"/>
            <a:ext cx="1737360" cy="658368"/>
          </a:xfrm>
          <a:prstGeom prst="rect">
            <a:avLst/>
          </a:prstGeom>
          <a:solidFill>
            <a:srgbClr val="CC112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493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6576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286000" y="3474720"/>
            <a:ext cx="1737360" cy="658368"/>
          </a:xfrm>
          <a:prstGeom prst="rect">
            <a:avLst/>
          </a:prstGeom>
          <a:solidFill>
            <a:srgbClr val="CC112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286000" y="3493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228600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Lift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65760" y="4224528"/>
            <a:ext cx="1737360" cy="658368"/>
          </a:xfrm>
          <a:prstGeom prst="rect">
            <a:avLst/>
          </a:prstGeom>
          <a:solidFill>
            <a:srgbClr val="CC112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365760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Rate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286000" y="4224528"/>
            <a:ext cx="1737360" cy="658368"/>
          </a:xfrm>
          <a:prstGeom prst="rect">
            <a:avLst/>
          </a:prstGeom>
          <a:solidFill>
            <a:srgbClr val="CC112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86000" y="42428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120ms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2286000" y="45720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663440" y="10972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70" name="Text 68"/>
          <p:cNvSpPr/>
          <p:nvPr/>
        </p:nvSpPr>
        <p:spPr>
          <a:xfrm>
            <a:off x="46634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663440" y="2176272"/>
            <a:ext cx="4114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— data to deployment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with domain-aware priors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MBA + LightGBM L2R ensemble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engineered features, temporal split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Flask+Redis API serving &lt; 120ms p95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A/B framework with guardrails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AOV · +86% acceptance · 100% coverage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63440" y="4709160"/>
            <a:ext cx="4114800" cy="256032"/>
          </a:xfrm>
          <a:prstGeom prst="rect">
            <a:avLst/>
          </a:prstGeom>
          <a:solidFill>
            <a:srgbClr val="1C1C36"/>
          </a:solidFill>
          <a:ln w="6350">
            <a:solidFill>
              <a:srgbClr val="7070A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63440" y="4709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zomato  |  Zomathon  |  NEURAL NINJAS  |  github.com/Rak-x-dash</a:t>
            </a:r>
            <a:endParaRPr lang="en-US" sz="850" dirty="0"/>
          </a:p>
        </p:txBody>
      </p:sp>
      <p:sp>
        <p:nvSpPr>
          <p:cNvPr id="9901" name="github_box"/>
          <p:cNvSpPr>
            <a:spLocks noGrp="1"/>
          </p:cNvSpPr>
          <p:nvPr/>
        </p:nvSpPr>
        <p:spPr>
          <a:xfrm>
            <a:off x="3200000" y="4750000"/>
            <a:ext cx="3600000" cy="480000"/>
          </a:xfrm>
          <a:prstGeom prst="roundRect">
            <a:avLst>
              <a:gd name="adj" fmla="val 16667"/>
            </a:avLst>
          </a:prstGeom>
          <a:solidFill>
            <a:srgbClr val="161630"/>
          </a:solidFill>
          <a:ln w="18000">
            <a:solidFill>
              <a:srgbClr val="00C8E8"/>
            </a:solidFill>
          </a:ln>
        </p:spPr>
        <p:txBody>
          <a:bodyPr anchor="ctr" lIns="91440" rIns="91440" tIns="45720" bIns="45720"/>
          <a:lstStyle/>
          <a:p>
            <a:pPr algn="ctr"/>
            <a:r>
              <a:rPr lang="en-US" sz="1000" b="0" dirty="0">
                <a:solidFill>
                  <a:srgbClr val="7070A0"/>
                </a:solidFill>
                <a:latin typeface="Calibri"/>
              </a:rPr>
              <a:t>github  </a:t>
            </a:r>
            <a:r>
              <a:rPr lang="en-US" sz="1200" b="1" dirty="0">
                <a:solidFill>
                  <a:srgbClr val="00C8E8"/>
                </a:solidFill>
                <a:latin typeface="Calibri"/>
              </a:rPr>
              <a:t>github.com/Rak-x-dash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CSAO Recommendation System - Neural Ninjas</dc:title>
  <dc:subject>PptxGenJS Presentation</dc:subject>
  <dc:creator>PptxGenJS</dc:creator>
  <cp:lastModifiedBy>PptxGenJS</cp:lastModifiedBy>
  <cp:revision>1</cp:revision>
  <dcterms:created xsi:type="dcterms:W3CDTF">2026-03-03T09:45:45Z</dcterms:created>
  <dcterms:modified xsi:type="dcterms:W3CDTF">2026-03-03T09:45:45Z</dcterms:modified>
</cp:coreProperties>
</file>